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18ba2b5e3b447d" /><Relationship Type="http://schemas.openxmlformats.org/officeDocument/2006/relationships/extended-properties" Target="/docProps/app.xml" Id="R48803bcba4bc47bd" /><Relationship Type="http://schemas.openxmlformats.org/officeDocument/2006/relationships/officeDocument" Target="/ppt/presentation.xml" Id="R5c3d0b49840943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1f23852e184a1b"/>
  </p:sldMasterIdLst>
  <p:notesMasterIdLst>
    <p:notesMasterId xmlns:r="http://schemas.openxmlformats.org/officeDocument/2006/relationships" r:id="Rbc6ccf50499d4eaa"/>
  </p:notesMasterIdLst>
  <p:sldIdLst>
    <p:sldId xmlns:r="http://schemas.openxmlformats.org/officeDocument/2006/relationships" id="256" r:id="R2f0b0977b0414817"/>
    <p:sldId xmlns:r="http://schemas.openxmlformats.org/officeDocument/2006/relationships" id="257" r:id="R458a4573cbf64ea9"/>
    <p:sldId xmlns:r="http://schemas.openxmlformats.org/officeDocument/2006/relationships" id="258" r:id="R6be95e703a594662"/>
    <p:sldId xmlns:r="http://schemas.openxmlformats.org/officeDocument/2006/relationships" id="259" r:id="Rb3ec4463a20f4c51"/>
    <p:sldId xmlns:r="http://schemas.openxmlformats.org/officeDocument/2006/relationships" id="260" r:id="R8680706c79c348c8"/>
    <p:sldId xmlns:r="http://schemas.openxmlformats.org/officeDocument/2006/relationships" id="261" r:id="Rbcde4595359e49b5"/>
    <p:sldId xmlns:r="http://schemas.openxmlformats.org/officeDocument/2006/relationships" id="262" r:id="R956eeb12c7a04d6f"/>
    <p:sldId xmlns:r="http://schemas.openxmlformats.org/officeDocument/2006/relationships" id="263" r:id="R869862eb54c94a2e"/>
    <p:sldId xmlns:r="http://schemas.openxmlformats.org/officeDocument/2006/relationships" id="264" r:id="Rb4125d1eac0741f4"/>
    <p:sldId xmlns:r="http://schemas.openxmlformats.org/officeDocument/2006/relationships" id="265" r:id="Re380be9a05df4ad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1f23852e184a1b" /><Relationship Type="http://schemas.openxmlformats.org/officeDocument/2006/relationships/theme" Target="/ppt/theme/theme1.xml" Id="R8a5a8c3287cd4058" /><Relationship Type="http://schemas.openxmlformats.org/officeDocument/2006/relationships/notesMaster" Target="/ppt/notesMasters/notesMaster1.xml" Id="Rbc6ccf50499d4eaa" /><Relationship Type="http://schemas.openxmlformats.org/officeDocument/2006/relationships/presProps" Target="/ppt/presProps.xml" Id="R60b62a73d91249dc" /><Relationship Type="http://schemas.openxmlformats.org/officeDocument/2006/relationships/viewProps" Target="/ppt/viewProps.xml" Id="R1bf611988a1c4715" /><Relationship Type="http://schemas.openxmlformats.org/officeDocument/2006/relationships/tableStyles" Target="/ppt/tableStyles.xml" Id="R406311c5f76e455d" /><Relationship Type="http://schemas.openxmlformats.org/officeDocument/2006/relationships/slide" Target="/ppt/slides/slide1.xml" Id="R2f0b0977b0414817" /><Relationship Type="http://schemas.openxmlformats.org/officeDocument/2006/relationships/slide" Target="/ppt/slides/slide2.xml" Id="R458a4573cbf64ea9" /><Relationship Type="http://schemas.openxmlformats.org/officeDocument/2006/relationships/slide" Target="/ppt/slides/slide3.xml" Id="R6be95e703a594662" /><Relationship Type="http://schemas.openxmlformats.org/officeDocument/2006/relationships/slide" Target="/ppt/slides/slide4.xml" Id="Rb3ec4463a20f4c51" /><Relationship Type="http://schemas.openxmlformats.org/officeDocument/2006/relationships/slide" Target="/ppt/slides/slide5.xml" Id="R8680706c79c348c8" /><Relationship Type="http://schemas.openxmlformats.org/officeDocument/2006/relationships/slide" Target="/ppt/slides/slide6.xml" Id="Rbcde4595359e49b5" /><Relationship Type="http://schemas.openxmlformats.org/officeDocument/2006/relationships/slide" Target="/ppt/slides/slide7.xml" Id="R956eeb12c7a04d6f" /><Relationship Type="http://schemas.openxmlformats.org/officeDocument/2006/relationships/slide" Target="/ppt/slides/slide8.xml" Id="R869862eb54c94a2e" /><Relationship Type="http://schemas.openxmlformats.org/officeDocument/2006/relationships/slide" Target="/ppt/slides/slide9.xml" Id="Rb4125d1eac0741f4" /><Relationship Type="http://schemas.openxmlformats.org/officeDocument/2006/relationships/slide" Target="/ppt/slides/slide10.xml" Id="Re380be9a05df4a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4d7e2d885c046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095d63e36f4512" /><Relationship Type="http://schemas.openxmlformats.org/officeDocument/2006/relationships/notesMaster" Target="/ppt/notesMasters/notesMaster1.xml" Id="Rabbef88c8b6a4c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3d909115da472e" /><Relationship Type="http://schemas.openxmlformats.org/officeDocument/2006/relationships/notesMaster" Target="/ppt/notesMasters/notesMaster1.xml" Id="R4d156c0e2e4246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e7f925703246b1" /><Relationship Type="http://schemas.openxmlformats.org/officeDocument/2006/relationships/notesMaster" Target="/ppt/notesMasters/notesMaster1.xml" Id="Ra4862fee4d07439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d183633efc48fa" /><Relationship Type="http://schemas.openxmlformats.org/officeDocument/2006/relationships/notesMaster" Target="/ppt/notesMasters/notesMaster1.xml" Id="R692b4b25366740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f0389a57f946d0" /><Relationship Type="http://schemas.openxmlformats.org/officeDocument/2006/relationships/notesMaster" Target="/ppt/notesMasters/notesMaster1.xml" Id="Rb6e281a2fee043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946061ad52b423f" /><Relationship Type="http://schemas.openxmlformats.org/officeDocument/2006/relationships/notesMaster" Target="/ppt/notesMasters/notesMaster1.xml" Id="Rc4f5da8c616242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31baf8836e4913" /><Relationship Type="http://schemas.openxmlformats.org/officeDocument/2006/relationships/notesMaster" Target="/ppt/notesMasters/notesMaster1.xml" Id="R993e695452c44e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eca4cc225f4f0f" /><Relationship Type="http://schemas.openxmlformats.org/officeDocument/2006/relationships/notesMaster" Target="/ppt/notesMasters/notesMaster1.xml" Id="R6064d2a4b1f942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d517e88d594356" /><Relationship Type="http://schemas.openxmlformats.org/officeDocument/2006/relationships/notesMaster" Target="/ppt/notesMasters/notesMaster1.xml" Id="R8e311f2131cc4e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7c2627341074ee2" /><Relationship Type="http://schemas.openxmlformats.org/officeDocument/2006/relationships/notesMaster" Target="/ppt/notesMasters/notesMaster1.xml" Id="R3c11714a24ca4b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/>
              <a:t>18s | Title</a:t>
            </a:r>
            <a:endParaRPr lang="en-US"/>
          </a:p>
          <a:p xmlns:a="http://schemas.openxmlformats.org/drawingml/2006/main">
            <a:r>
              <a:rPr lang="en-US" sz="1200"/>
              <a:t>Good afternoon. This is SilverLink Ambient Agent.</a:t>
            </a:r>
            <a:endParaRPr lang="en-US"/>
          </a:p>
          <a:p xmlns:a="http://schemas.openxmlformats.org/drawingml/2006/main">
            <a:r>
              <a:rPr lang="en-US" sz="1200"/>
              <a:t>It is not another senior app. It is Ambient Family Intelligence for aging societies.</a:t>
            </a:r>
            <a:endParaRPr lang="en-US"/>
          </a:p>
          <a:p xmlns:a="http://schemas.openxmlformats.org/drawingml/2006/main">
            <a:r>
              <a:rPr lang="en-US" sz="1200"/>
              <a:t>It quietly understands daily changes, and reconnects families before small signals become serious problems.</a:t>
            </a:r>
            <a:endParaRPr lang="en-US"/>
          </a:p>
          <a:p xmlns:a="http://schemas.openxmlformats.org/drawingml/2006/main">
            <a:r>
              <a:rPr lang="en-US" sz="1200"/>
              <a:t>Cue: set the category first. Do not start with features.</a:t>
            </a:r>
            <a:endParaRPr lang="en-US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/>
              <a:t>20s | Problem</a:t>
            </a:r>
            <a:endParaRPr lang="en-US"/>
          </a:p>
          <a:p xmlns:a="http://schemas.openxmlformats.org/drawingml/2006/main">
            <a:r>
              <a:rPr lang="en-US" sz="1200"/>
              <a:t>In aging societies, families often do not miss big emergencies. They miss small changes.</a:t>
            </a:r>
            <a:endParaRPr lang="en-US"/>
          </a:p>
          <a:p xmlns:a="http://schemas.openxmlformats.org/drawingml/2006/main">
            <a:r>
              <a:rPr lang="en-US" sz="1200"/>
              <a:t>A medicine box does not move. A voice sounds tired. A room becomes quiet. The dangerous signal is silence.</a:t>
            </a:r>
            <a:endParaRPr lang="en-US"/>
          </a:p>
          <a:p xmlns:a="http://schemas.openxmlformats.org/drawingml/2006/main">
            <a:r>
              <a:rPr lang="en-US" sz="1200"/>
              <a:t>Cue: read silence slowly.</a:t>
            </a:r>
            <a:endParaRPr lang="en-US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/>
              <a:t>18s | Insight</a:t>
            </a:r>
            <a:endParaRPr lang="en-US"/>
          </a:p>
          <a:p xmlns:a="http://schemas.openxmlformats.org/drawingml/2006/main">
            <a:r>
              <a:rPr lang="en-US" sz="1200"/>
              <a:t>Older adults do not need another app to learn.</a:t>
            </a:r>
            <a:endParaRPr lang="en-US"/>
          </a:p>
          <a:p xmlns:a="http://schemas.openxmlformats.org/drawingml/2006/main">
            <a:r>
              <a:rPr lang="en-US" sz="1200"/>
              <a:t>Most apps ask people to tap, search, and explain themselves.</a:t>
            </a:r>
            <a:endParaRPr lang="en-US"/>
          </a:p>
          <a:p xmlns:a="http://schemas.openxmlformats.org/drawingml/2006/main">
            <a:r>
              <a:rPr lang="en-US" sz="1200"/>
              <a:t>SilverLink asks less. One calm orb, large text, gentle voice, and human handoff.</a:t>
            </a:r>
            <a:endParaRPr lang="en-US"/>
          </a:p>
          <a:p xmlns:a="http://schemas.openxmlformats.org/drawingml/2006/main">
            <a:r>
              <a:rPr lang="en-US" sz="1200"/>
              <a:t>Cue: the app adapts to people.</a:t>
            </a:r>
            <a:endParaRPr lang="en-US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/>
              <a:t>20s | Solution</a:t>
            </a:r>
            <a:endParaRPr lang="en-US"/>
          </a:p>
          <a:p xmlns:a="http://schemas.openxmlformats.org/drawingml/2006/main">
            <a:r>
              <a:rPr lang="en-US" sz="1200"/>
              <a:t>SilverLink is one ambient interface.</a:t>
            </a:r>
            <a:endParaRPr lang="en-US"/>
          </a:p>
          <a:p xmlns:a="http://schemas.openxmlformats.org/drawingml/2006/main">
            <a:r>
              <a:rPr lang="en-US" sz="1200"/>
              <a:t>It can see, listen, remember, gently act, and hand off to humans.</a:t>
            </a:r>
            <a:endParaRPr lang="en-US"/>
          </a:p>
          <a:p xmlns:a="http://schemas.openxmlformats.org/drawingml/2006/main">
            <a:r>
              <a:rPr lang="en-US" sz="1200"/>
              <a:t>It does not interrupt. It does not judge. It simply notices earlier.</a:t>
            </a:r>
            <a:endParaRPr lang="en-US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/>
              <a:t>28s | Luma solo demo</a:t>
            </a:r>
            <a:endParaRPr lang="en-US"/>
          </a:p>
          <a:p xmlns:a="http://schemas.openxmlformats.org/drawingml/2006/main">
            <a:r>
              <a:rPr lang="en-US" sz="1200"/>
              <a:t>I am participating solo, so I chose a narrow, safe, executable slice.</a:t>
            </a:r>
            <a:endParaRPr lang="en-US"/>
          </a:p>
          <a:p xmlns:a="http://schemas.openxmlformats.org/drawingml/2006/main">
            <a:r>
              <a:rPr lang="en-US" sz="1200"/>
              <a:t>In two minutes, judges can see the orb, Gemini vision, Google Cloud voice, a semantic event, and a human handoff.</a:t>
            </a:r>
            <a:endParaRPr lang="en-US"/>
          </a:p>
          <a:p xmlns:a="http://schemas.openxmlformats.org/drawingml/2006/main">
            <a:r>
              <a:rPr lang="en-US" sz="1200"/>
              <a:t>That is the whole point: small enough to be reliable, but complete enough to prove the agent loop.</a:t>
            </a:r>
            <a:endParaRPr lang="en-US"/>
          </a:p>
          <a:p xmlns:a="http://schemas.openxmlformats.org/drawingml/2006/main">
            <a:r>
              <a:rPr lang="en-US" sz="1200"/>
              <a:t>Cue: solo is a scope-control strength.</a:t>
            </a:r>
            <a:endParaRPr lang="en-US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/>
              <a:t>24s | Architecture</a:t>
            </a:r>
            <a:endParaRPr lang="en-US"/>
          </a:p>
          <a:p xmlns:a="http://schemas.openxmlformats.org/drawingml/2006/main">
            <a:r>
              <a:rPr lang="en-US" sz="1200"/>
              <a:t>Environment signals come from camera, voice, and routine context.</a:t>
            </a:r>
            <a:endParaRPr lang="en-US"/>
          </a:p>
          <a:p xmlns:a="http://schemas.openxmlformats.org/drawingml/2006/main">
            <a:r>
              <a:rPr lang="en-US" sz="1200"/>
              <a:t>Gemini provides multimodal understanding and reasoning.</a:t>
            </a:r>
            <a:endParaRPr lang="en-US"/>
          </a:p>
          <a:p xmlns:a="http://schemas.openxmlformats.org/drawingml/2006/main">
            <a:r>
              <a:rPr lang="en-US" sz="1200"/>
              <a:t>Then the agent core handles perception, memory, triage, and communication.</a:t>
            </a:r>
            <a:endParaRPr lang="en-US"/>
          </a:p>
          <a:p xmlns:a="http://schemas.openxmlformats.org/drawingml/2006/main">
            <a:r>
              <a:rPr lang="en-US" sz="1200"/>
              <a:t>The final action is not an AI decision. It is a human handoff.</a:t>
            </a:r>
            <a:endParaRPr lang="en-US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/>
              <a:t>24s | Why Google Cloud + Gemini</a:t>
            </a:r>
            <a:endParaRPr lang="en-US"/>
          </a:p>
          <a:p xmlns:a="http://schemas.openxmlformats.org/drawingml/2006/main">
            <a:r>
              <a:rPr lang="en-US" sz="1200"/>
              <a:t>For this event, Google Cloud integration is not optional. It is a judging requirement.</a:t>
            </a:r>
            <a:endParaRPr lang="en-US"/>
          </a:p>
          <a:p xmlns:a="http://schemas.openxmlformats.org/drawingml/2006/main">
            <a:r>
              <a:rPr lang="en-US" sz="1200"/>
              <a:t>SilverLink makes Google Cloud visible in the demo.</a:t>
            </a:r>
            <a:endParaRPr lang="en-US"/>
          </a:p>
          <a:p xmlns:a="http://schemas.openxmlformats.org/drawingml/2006/main">
            <a:r>
              <a:rPr lang="en-US" sz="1200"/>
              <a:t>Gemini handles vision, reasoning, and structured output. Google Cloud Text-to-Speech gives the Japanese voice a warmer tone.</a:t>
            </a:r>
            <a:endParaRPr lang="en-US"/>
          </a:p>
          <a:p xmlns:a="http://schemas.openxmlformats.org/drawingml/2006/main">
            <a:r>
              <a:rPr lang="en-US" sz="1200"/>
              <a:t>Cloud Run and Live tokens are the next delivery track, but today the visible proof is Gemini plus cloud voice.</a:t>
            </a:r>
            <a:endParaRPr lang="en-US"/>
          </a:p>
          <a:p xmlns:a="http://schemas.openxmlformats.org/drawingml/2006/main">
            <a:r>
              <a:rPr lang="en-US" sz="1200"/>
              <a:t>Cue: say Google Cloud out loud.</a:t>
            </a:r>
            <a:endParaRPr lang="en-US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/>
              <a:t>22s | Safety</a:t>
            </a:r>
            <a:endParaRPr lang="en-US"/>
          </a:p>
          <a:p xmlns:a="http://schemas.openxmlformats.org/drawingml/2006/main">
            <a:r>
              <a:rPr lang="en-US" sz="1200"/>
              <a:t>Safety is part of the product.</a:t>
            </a:r>
            <a:endParaRPr lang="en-US"/>
          </a:p>
          <a:p xmlns:a="http://schemas.openxmlformats.org/drawingml/2006/main">
            <a:r>
              <a:rPr lang="en-US" sz="1200"/>
              <a:t>SilverLink does not diagnose. It does not change dosage. It does not replace doctors or family.</a:t>
            </a:r>
            <a:endParaRPr lang="en-US"/>
          </a:p>
          <a:p xmlns:a="http://schemas.openxmlformats.org/drawingml/2006/main">
            <a:r>
              <a:rPr lang="en-US" sz="1200"/>
              <a:t>It notices uncertainty, speaks gently, and escalates to the right human.</a:t>
            </a:r>
            <a:endParaRPr lang="en-US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/>
              <a:t>18s | Japan First</a:t>
            </a:r>
            <a:endParaRPr lang="en-US"/>
          </a:p>
          <a:p xmlns:a="http://schemas.openxmlformats.org/drawingml/2006/main">
            <a:r>
              <a:rPr lang="en-US" sz="1200"/>
              <a:t>Japan is the first wedge.</a:t>
            </a:r>
            <a:endParaRPr lang="en-US"/>
          </a:p>
          <a:p xmlns:a="http://schemas.openxmlformats.org/drawingml/2006/main">
            <a:r>
              <a:rPr lang="en-US" sz="1200"/>
              <a:t>The product fits older adults living alone, respectful Japanese language, family connection, pharmacist confirmation, and low interruption.</a:t>
            </a:r>
            <a:endParaRPr lang="en-US"/>
          </a:p>
          <a:p xmlns:a="http://schemas.openxmlformats.org/drawingml/2006/main">
            <a:r>
              <a:rPr lang="en-US" sz="1200"/>
              <a:t>Globally, this becomes remote family care as an ambient relationship layer.</a:t>
            </a:r>
            <a:endParaRPr lang="en-US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/>
              <a:t>18s | Closing</a:t>
            </a:r>
            <a:endParaRPr lang="en-US"/>
          </a:p>
          <a:p xmlns:a="http://schemas.openxmlformats.org/drawingml/2006/main">
            <a:r>
              <a:rPr lang="en-US" sz="1200"/>
              <a:t>SilverLink is not about replacing family. It is about making care visible earlier.</a:t>
            </a:r>
            <a:endParaRPr lang="en-US"/>
          </a:p>
          <a:p xmlns:a="http://schemas.openxmlformats.org/drawingml/2006/main">
            <a:r>
              <a:rPr lang="en-US" sz="1200"/>
              <a:t>Technology should not replace relationships. It should quietly protect them.</a:t>
            </a:r>
            <a:endParaRPr lang="en-US"/>
          </a:p>
          <a:p xmlns:a="http://schemas.openxmlformats.org/drawingml/2006/main">
            <a:r>
              <a:rPr lang="en-US" sz="1200"/>
              <a:t>She never learned the app. The app learned how to care.</a:t>
            </a:r>
            <a:endParaRPr lang="en-US"/>
          </a:p>
          <a:p xmlns:a="http://schemas.openxmlformats.org/drawingml/2006/main">
            <a:r>
              <a:rPr lang="en-US" sz="1200"/>
              <a:t>Cue: slow down and pause after the last sentence.</a:t>
            </a:r>
            <a:endParaRPr lang="en-US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4f9ae42bba4b4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32c31660c2947f7" /><Relationship Type="http://schemas.openxmlformats.org/officeDocument/2006/relationships/slideLayout" Target="/ppt/slideLayouts/slideLayout2.xml" Id="R74649aead7ca42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649aead7ca42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f3deb6f848430c" /><Relationship Type="http://schemas.openxmlformats.org/officeDocument/2006/relationships/notesSlide" Target="/ppt/notesSlides/notesSlide1.xml" Id="R0091db51b16d4b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5f191f2ff14848" /><Relationship Type="http://schemas.openxmlformats.org/officeDocument/2006/relationships/notesSlide" Target="/ppt/notesSlides/notesSlide2.xml" Id="R0c348915479e44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93a59a7de54564" /><Relationship Type="http://schemas.openxmlformats.org/officeDocument/2006/relationships/notesSlide" Target="/ppt/notesSlides/notesSlide3.xml" Id="R4b9732d35a7547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c1d6dd3d2249ba" /><Relationship Type="http://schemas.openxmlformats.org/officeDocument/2006/relationships/notesSlide" Target="/ppt/notesSlides/notesSlide4.xml" Id="R4bb672d5031c46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cf5f17c5304b7d" /><Relationship Type="http://schemas.openxmlformats.org/officeDocument/2006/relationships/notesSlide" Target="/ppt/notesSlides/notesSlide5.xml" Id="Rdc83c74498ac42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2ff40f20af496a" /><Relationship Type="http://schemas.openxmlformats.org/officeDocument/2006/relationships/notesSlide" Target="/ppt/notesSlides/notesSlide6.xml" Id="R035b705cf17c46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cedbc6612942ae" /><Relationship Type="http://schemas.openxmlformats.org/officeDocument/2006/relationships/notesSlide" Target="/ppt/notesSlides/notesSlide7.xml" Id="Rd0ae02b89c5b44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3e676b9f794e43" /><Relationship Type="http://schemas.openxmlformats.org/officeDocument/2006/relationships/notesSlide" Target="/ppt/notesSlides/notesSlide8.xml" Id="Rc6d480b4fd39408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f52937f0234233" /><Relationship Type="http://schemas.openxmlformats.org/officeDocument/2006/relationships/notesSlide" Target="/ppt/notesSlides/notesSlide9.xml" Id="R8b6780a225234a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b8770958e448df" /><Relationship Type="http://schemas.openxmlformats.org/officeDocument/2006/relationships/notesSlide" Target="/ppt/notesSlides/notesSlide10.xml" Id="R2e489883c232455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9BBABD-3D44-4583-8358-F31EC526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F37A2C-ED95-4ADA-B652-9BB43D94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D4932-1FEA-4F49-BF38-81F5347A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9316F-C2DF-43C2-9922-3FEB44DB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204A8B-9715-4B24-9EC2-D30CED97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9A9C2-A52C-4343-A3B4-8DAA580D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FINAL POSITIONING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1F713-F446-400C-A5AD-3F7F67C2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6762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SilverLink Ambient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A7338-4FFA-44E5-B4D2-05EE4CBA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F4EFE5"/>
                </a:solidFill>
                <a:latin typeface="Aptos"/>
                <a:ea typeface="Aptos"/>
                <a:cs typeface="Aptos"/>
              </a:rPr>
              <a:t>Ambient Family Intelligence for Aging Societies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7ACF9-781C-4884-9B1F-929CE109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6115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An ambient AI presence that quietly understands daily changes and reconnects aging families before small signals become serious problems.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6FA4F-DAB6-4DD3-951B-22298093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85725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0481C6-731D-47EB-B72C-31A656AC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066800"/>
            <a:ext cx="2724150" cy="2724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33333"/>
            </a:srgbClr>
          </a:solidFill>
          <a:ln xmlns:a="http://schemas.openxmlformats.org/drawingml/2006/main" w="11430">
            <a:solidFill>
              <a:srgbClr val="8CA7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034441-33FA-4AAF-B713-B403C375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7463" y="1557147"/>
            <a:ext cx="980694" cy="98069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FE5">
              <a:alpha val="2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A8600-5E34-40FE-AB1E-99622D51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90750"/>
            <a:ext cx="2714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SilverLink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045578-8355-44AE-9B1C-353DFFC1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47950"/>
            <a:ext cx="2143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quiet presence layer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520E2-6E40-48DE-B300-0B961784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96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13333"/>
            </a:srgbClr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790C0-5436-411B-A1C6-A53D5A80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67275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rPr>
              <a:t>not a senior 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138E8-60FF-4022-B171-1D8B18CE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19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13333"/>
            </a:srgbClr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3DC64A-FD9D-49E1-B642-D68A9137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867275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not monitoring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CFD268-2ACF-4225-BC39-F7896FE5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8196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0BFE14-1ABD-4FB2-BE3A-BF249FAB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6727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family intelligence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102806-1829-4E1C-A3E5-7A5668E0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62450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4EA450-7E0A-4040-BED4-10BACE29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52950"/>
            <a:ext cx="2781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She never learned the app.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BE55F3-694B-47B7-B646-187D33BD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19650"/>
            <a:ext cx="2781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The app learned how to care.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CFB1B0-E6AC-493B-8B7C-8FD15D77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7481C5-1240-47EE-9A7E-F6E747D1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54547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97C8AE-36BC-4753-9D77-1F3C162B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A7F8BF-C0D4-42BC-B0C4-9CC3ED3C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8A129-64C5-44F3-85DF-56667290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89630-EDA7-4C63-84DF-8E7E313C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A9187B-D6D8-4893-BA26-5AC9EFB5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79CAFD-12DE-4636-9BF7-B366910E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7BCED-8167-444F-89CA-1091CE5D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524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The most dangerous signal is silence.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7BEC5-D01B-43E8-B892-61DF92B5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6286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Japan is aging. Families are busy. Seniors do not always ask for help. The dangerous part is silence.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F8373D-4182-4053-9B69-0172E2D4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9601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9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DACC52-B4F2-46C1-ABAA-08A26165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28950"/>
            <a:ext cx="38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3DA21-97B4-4963-82A5-B18DAE42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933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26667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97E76-497F-4E1A-B1AE-0C0D0A17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433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07:50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37B950-66A3-4F0B-954B-07E0CEBD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291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medicine box usually moves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E496ED-80A5-4A98-8CFA-1FF1E09B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33650"/>
            <a:ext cx="381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8658E4-8A2F-448D-9791-07886BE3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384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14E">
              <a:alpha val="26667"/>
            </a:srgbClr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96986C-9EC0-45B2-8184-7DDCB5ED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433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09:10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F591D5-DD9A-4882-8725-3E0FBB04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2291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no confirmation today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D41E38-9BB3-4BDC-8D63-109E2253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8130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53F445-B4D5-40A5-ACA2-4A43C478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86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8A77">
              <a:alpha val="26667"/>
            </a:srgbClr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852E9C-8173-44C7-B0AA-2EC26EE8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9433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11:30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BD7589-10CD-4C58-85C9-0E572F1F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291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voice sounds tired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C4A6C4-7A0E-4094-A9A9-5C09DBA8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33700"/>
            <a:ext cx="3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180C34-16D5-4A82-A101-CC8EAB03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38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26667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BBB593-3914-4A7C-A42E-C2B2E7C1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433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17:40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48B676-6F5C-45D6-8A0C-5E1AD999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291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no family touchpoint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5A4C2E-C9AB-4FD3-BC75-F7006484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31813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091368-A2FA-4E08-B9BB-A0B771B3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526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Families do care.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576EAB-7EAB-474C-8C7B-076C907C4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145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They just discover quiet changes too late.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DB5906-785D-49AB-B6C3-D6FFCDDB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2247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6BF734-2DD5-4688-A3E0-98D0C370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673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silent signal detection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89DECE-286A-4737-AED3-8F381B18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219700"/>
            <a:ext cx="160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13333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F454F9-137D-45FB-96D4-96ABDC73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2673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low interruption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A126E8-A044-46FD-983A-E57CFC9D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219700"/>
            <a:ext cx="1562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13333"/>
            </a:srgbClr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9C9D93-7B55-449D-AC37-C439A3D4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26732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human response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C988FD-2BC1-49B6-8504-35FD1552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8099D8-28FB-4902-8221-950B7943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83357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0DFF99-A3CB-435A-AE4B-B6A84015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8947A3-0974-40FC-ADBD-08976CE5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F5E96-8400-491C-82EB-5EB50023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96EDA0-A1DC-4798-B71A-AACF6F4C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40861-228A-4639-A9DD-677BDC64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3DE965-C880-4465-9F45-F9A670F5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INSIGHT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21480-CD14-4EC0-89B1-2E4181AF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810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Older adults do not need another app to learn.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5FCCB-2781-4102-B87F-461241377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F4EFE5"/>
                </a:solidFill>
                <a:latin typeface="Aptos"/>
                <a:ea typeface="Aptos"/>
                <a:cs typeface="Aptos"/>
              </a:rPr>
              <a:t>They need technology that quietly adapts to them.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DDC0FF-47F9-49EF-A5D2-4F3FBE0E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4000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B42D23-1D1B-4009-8A30-712D755A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Most apps ask Keiko to: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EC8428-0C5F-4B9A-84AF-46E6ABC7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62400"/>
            <a:ext cx="3143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tap, search, learn menus,</a:t>
            </a:r>
          </a:p>
          <a:p xmlns:a="http://schemas.openxmlformats.org/drawingml/2006/main">
            <a:pPr algn="l">
              <a:defRPr sz="18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and explain her own context.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E82C53-C329-4498-A4DD-9852E904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43250"/>
            <a:ext cx="40957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12E"/>
          </a:solidFill>
          <a:ln xmlns:a="http://schemas.openxmlformats.org/drawingml/2006/main" w="11430">
            <a:solidFill>
              <a:srgbClr val="7CD6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10631E-7238-4D5E-95C1-22B113E5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2900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SilverLink asks less: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C93784-B5C3-48FF-9203-DDB07C1B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10000"/>
            <a:ext cx="31051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one calm orb,</a:t>
            </a:r>
          </a:p>
          <a:p xmlns:a="http://schemas.openxmlformats.org/drawingml/2006/main">
            <a:pPr algn="l">
              <a:defRPr sz="1725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large text,</a:t>
            </a:r>
          </a:p>
          <a:p xmlns:a="http://schemas.openxmlformats.org/drawingml/2006/main">
            <a:pPr algn="l">
              <a:defRPr sz="1725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gentle voice,</a:t>
            </a:r>
          </a:p>
          <a:p xmlns:a="http://schemas.openxmlformats.org/drawingml/2006/main">
            <a:pPr algn="l">
              <a:defRPr sz="1725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human handoff.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E2F00D-E49E-4FF7-B83B-3C615E2C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933450"/>
            <a:ext cx="1409700" cy="140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D7ABB-FECC-4DF5-845D-5377B373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1430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33333"/>
            </a:srgbClr>
          </a:solidFill>
          <a:ln xmlns:a="http://schemas.openxmlformats.org/drawingml/2006/main" w="11430">
            <a:solidFill>
              <a:srgbClr val="7CD6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0FE518-597B-4086-8803-F2D33605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8732" y="1321308"/>
            <a:ext cx="356616" cy="3566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FE5">
              <a:alpha val="2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9E9CB7-176D-4D32-8017-76392B75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6735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D8EF1D-2284-479F-991A-DCBDDA47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14975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AI adapts to people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F74B76-4F1A-46C5-9110-7FF0F9A2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4673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13333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3F0CBE-5C83-4AE1-9D95-20EA28C9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514975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not the other way around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5E2AD8-C5EB-4864-99A9-4F8C82DA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945F79-DB82-4C5B-84DC-D4EED258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4502739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D25915-6981-4D24-BDB7-782CD15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A5D17B-A1A4-443B-97F7-C93E5427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E81C4E-30BC-4667-BFD7-EB13E707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CA9B09-64D7-4E55-8F51-D8F44DBE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FE7F22-AEA1-4AC8-86C5-FBFBF50F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09C0E0-ABA7-44C5-AEE6-1052BE05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SOLUTION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3A6031-0635-48E3-BA5C-3BA0CE43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One ambient interface: see, listen, remember, gently act, hand off.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0B6BB-A736-498C-8A9F-C837541C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7334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The product is not a dashboard. It is a low-interruption layer between daily life and family response.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7458F-861D-4153-9A54-2C05B180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8CA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92172-FB95-430D-A106-3AB48E88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See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6A0DA4-20F2-4242-AB73-630475F6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medicine box, table, document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8F6831-CFD5-47DD-9C95-033844F6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2420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4D4076-C0D8-4D9D-94C1-7E50A661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3147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Listen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6D7D10-A1C9-43EE-B729-EBCD57F3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10000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question, tone, hesitation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B27236-1C0D-4F29-BCC9-ED1C9567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2420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2C1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F5488-F5D3-430B-937F-4F13D760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3147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Remember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F515CE-F1A5-479E-9038-645AA6D8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810000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recent lightweight 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44E243-BFAB-4B26-82A7-6553DFFD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2420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08A7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12303-714D-429B-A9F5-E56DBD82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147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094404-9EDF-4D64-8AE9-C9AA86A2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10000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calm voice, large card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C6EC66-5DB6-40E4-9486-B9D41F61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12420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39752B-9FB8-41BA-A0BA-49D8AFD0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147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Hand off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D3467F-2248-4825-8558-BD331C8F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10000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family or pharmacist memo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7E3651-D5F4-427B-A8B3-F2B81C49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87630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06A756-ACB6-43D9-AA2A-230957F2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108585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33333"/>
            </a:srgbClr>
          </a:solidFill>
          <a:ln xmlns:a="http://schemas.openxmlformats.org/drawingml/2006/main" w="11430">
            <a:solidFill>
              <a:srgbClr val="8CA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FA1C8B-D5F5-4760-A680-D3F71C60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0473" y="1267587"/>
            <a:ext cx="363474" cy="36347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FE5">
              <a:alpha val="2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1616C5-BC84-4CD2-BC4B-059528E6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57800"/>
            <a:ext cx="6134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0196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A37E7A-2E81-437A-B9BB-A193AD74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91150"/>
            <a:ext cx="560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It does not interrupt. It does not judge. It simply notices earlier.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C899FA-42FE-4F89-A00B-D34A1B9A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D8ABA6-C165-49F6-B4C6-FA018D82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684559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02F2B8-1DBF-4100-B4E3-54BE13EC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9C955-2A2D-4748-8012-20A033AE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37826-FFAE-4278-93C5-51F1D7AD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2A5156-889E-4984-AEC6-5964BE2F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5305C8-C30B-4A6D-9348-213F0398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6DEBE0-B752-4538-9C72-3EAB1F71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2 MIN SOLO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2B0F5-F238-427D-94A0-B8A80C1D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62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A solo-safe slice judges can see in two minutes.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9E10E4-27D2-4941-956D-9DBD399B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708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One builder, one stable loop: ambient orb, Gemini vision, Google Cloud voice, semantic event, and human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422ED3-ECF3-4D95-B51E-A402BD71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20383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C3A55E-DA97-48CA-AFA8-28FE9E6F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rPr>
              <a:t>0-15s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CF3E33-CC06-4233-AF8E-328007F0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365443-F4E8-43B1-A5D5-22DA03DB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Ambient Family Intelligence, not another senior app.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45ACDB-3C47-46EE-8640-64984D40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19450"/>
            <a:ext cx="20383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128453-7DCC-4C10-8A2A-DB81775A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528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15-40s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DA0BC7-548D-4507-AE3C-6CC8E6F6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195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Gemini vision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F0F540-7EE2-4E01-B50C-57E75A60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0050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Medicine image becomes a structured card.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77BB33-9B45-45C9-86C4-5BFCC16A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219450"/>
            <a:ext cx="20383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11A7CA-DDDA-4636-A658-B895871D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3528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40-65s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AE2AC0-7FD6-4CEB-B033-66968DE5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6195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Cloud voice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91556B-8231-4332-8979-590D27DE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0050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Chirp 3 HD or device fallback.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FDA321-888A-4D6D-980F-42510F93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19450"/>
            <a:ext cx="16764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AF2F26-FBB5-405A-AF4E-3EE1BE94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528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65-95s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8880C4-7586-4C6E-BE2C-140BADEC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19500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Signal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01D6E3-347E-4997-8B50-8DE60D19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00500"/>
            <a:ext cx="1352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semantic token,</a:t>
            </a:r>
          </a:p>
          <a:p xmlns:a="http://schemas.openxmlformats.org/drawingml/2006/main">
            <a:pPr algn="l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no raw stream.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3B6C6C-9EBB-4AA6-A0A9-8D5675D3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8686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9FA512-3CA9-48E4-95EF-D1D5DA37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362575"/>
            <a:ext cx="815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95-120s | Copy handoff memo, then close: no diagnosis, no dosage change.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526723-67DF-4028-A0B2-3F85C162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333500"/>
            <a:ext cx="19621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018"/>
          </a:solidFill>
          <a:ln xmlns:a="http://schemas.openxmlformats.org/drawingml/2006/main" w="19050">
            <a:solidFill>
              <a:srgbClr val="56617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9C67EF-509C-42B4-94C2-86072834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543050"/>
            <a:ext cx="165735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B26"/>
          </a:solidFill>
          <a:ln xmlns:a="http://schemas.openxmlformats.org/drawingml/2006/main" w="9525">
            <a:solidFill>
              <a:srgbClr val="27314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866F59-7099-4A48-8E8A-4CDF09D8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7716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7FF">
              <a:alpha val="33333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A60283-3FEA-4473-8355-730E9626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70510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EFE5"/>
                </a:solidFill>
                <a:latin typeface="Aptos"/>
                <a:ea typeface="Aptos"/>
                <a:cs typeface="Aptos"/>
              </a:rPr>
              <a:t>お薬を一緒に確認しましょうか。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FFB0EB-8A4C-4293-9355-3204877A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35280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C3A"/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596494-C5D4-4A98-A397-88BA086A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476625"/>
            <a:ext cx="1162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今日確認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297DDE-CC27-48F7-B71A-D36C25CD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76650"/>
            <a:ext cx="1162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F2C14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F2C14E"/>
                </a:solidFill>
                <a:latin typeface="Aptos"/>
                <a:ea typeface="Aptos"/>
                <a:cs typeface="Aptos"/>
              </a:rPr>
              <a:t>薬剤師に確認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ADF04F-F428-4BF2-B6D2-C6D8BA33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000500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12E"/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AFAC3F-293F-4C27-B4A3-3287DC1D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105275"/>
            <a:ext cx="1162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CD6C4"/>
                </a:solidFill>
                <a:latin typeface="Aptos"/>
                <a:ea typeface="Aptos"/>
                <a:cs typeface="Aptos"/>
              </a:rPr>
              <a:t>家族へ共有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D39081-D853-4D54-809A-886A5FDB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13333"/>
            </a:srgbClr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B1DE24-3D33-4189-94DF-971AC1AD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53125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08A77"/>
                </a:solidFill>
                <a:latin typeface="Aptos Mono"/>
                <a:ea typeface="Aptos Mono"/>
                <a:cs typeface="Aptos Mono"/>
              </a:rPr>
              <a:t>solo executable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1966C1-A01C-4FD7-92B9-99EAF188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9055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13333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780366-D133-472D-B428-ED6EC007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953125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Google Cloud visible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292BB13-7170-4DC8-BA91-197E4278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905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BFF26CC-7C43-4797-B603-727B1C85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953125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ambient family intelligence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C396DE-044C-48C3-8F5C-E7435D8C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BC15FB-679B-463B-9249-283FB78E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401735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5DF5CE-C790-4180-8FEF-489FFC96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C42641-411E-44EA-9CCA-E65FE9F0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8D53D-466F-4B27-AC96-C06DE202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CD038-9A23-472C-9831-AAAF2922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873FD-29BE-45CD-87E0-DB43B1B2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673C96-05B6-42BA-BCC8-B113CCBE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ARCHITECTURE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F10521-CBFC-429E-A49D-B9354E4F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286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Environment to Gemini to agents to humans.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ACFD49-FF86-491D-86A8-1B9AB2C8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723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This is the product system: perception and reasoning are useful only when they end in a calm human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A9374-2EDE-44E0-8325-C37937A9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17716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8CA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632550-A1E9-4D64-9720-2B740792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Signals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EE7280-A659-4470-AF58-93180A9A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957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9412"/>
            </a:srgbClr>
          </a:solidFill>
          <a:ln xmlns:a="http://schemas.openxmlformats.org/drawingml/2006/main" w="9525">
            <a:solidFill>
              <a:srgbClr val="8CA7FF">
                <a:alpha val="40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DB440F-8FA5-46B3-AE45-57DDCCBC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camera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9A4334-9626-45F9-9B6B-8DDFEBC0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9412"/>
            </a:srgbClr>
          </a:solidFill>
          <a:ln xmlns:a="http://schemas.openxmlformats.org/drawingml/2006/main" w="9525">
            <a:solidFill>
              <a:srgbClr val="8CA7FF">
                <a:alpha val="40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FF0ABF-A6F0-48D6-8193-F8E4C038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voice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FBBE93-7FE3-470A-A14F-3BB2D409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01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9412"/>
            </a:srgbClr>
          </a:solidFill>
          <a:ln xmlns:a="http://schemas.openxmlformats.org/drawingml/2006/main" w="9525">
            <a:solidFill>
              <a:srgbClr val="8CA7FF">
                <a:alpha val="4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59C232-4D7A-49CB-98E9-C4B683BB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routine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5F44D7-DB04-456E-B636-5ABFFE6D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3860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781517-4C18-43AF-9B33-D0DB26B2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105150"/>
            <a:ext cx="17716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90676B-846E-478C-A558-77D33E18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25755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Gemini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691B51-34C8-4F90-9BF0-7AE83B5C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957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14CA64-A20A-48DC-8E98-BF44EA69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719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vision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01DBC7-2559-46A6-9129-A87C73C0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529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91E6C1-C67F-453C-A105-5E19962E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2291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voice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9E4775-86F1-4965-B69B-66F46F4C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6101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8826F1-8DB6-4FD2-84FA-30973030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6863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reasoning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4B7A28-D774-4BDD-B486-66D2D6E0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3860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86DFFD-9F89-44B4-BA44-28AC816E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105150"/>
            <a:ext cx="17716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2C14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A83E89-279D-4DBD-AEC8-779C7E2F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5755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Agent 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183CA5-BF58-4DD8-A952-16B00CBA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6957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9412"/>
            </a:srgbClr>
          </a:solidFill>
          <a:ln xmlns:a="http://schemas.openxmlformats.org/drawingml/2006/main" w="9525">
            <a:solidFill>
              <a:srgbClr val="F2C14E">
                <a:alpha val="4000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6B4F46-D4C7-4004-A503-A29CA4B8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719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perception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216A84-B119-4CA9-AF9F-AE2EE356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529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9412"/>
            </a:srgbClr>
          </a:solidFill>
          <a:ln xmlns:a="http://schemas.openxmlformats.org/drawingml/2006/main" w="9525">
            <a:solidFill>
              <a:srgbClr val="F2C14E">
                <a:alpha val="4000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CED613-163F-4996-A433-6B3DE0E8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291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memory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3B983F-D7ED-4C3F-A169-8AD003FA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6101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9412"/>
            </a:srgbClr>
          </a:solidFill>
          <a:ln xmlns:a="http://schemas.openxmlformats.org/drawingml/2006/main" w="9525">
            <a:solidFill>
              <a:srgbClr val="F2C14E">
                <a:alpha val="4000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E2B5A8-EF08-4D96-B4AE-06A15D9C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863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triage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0F2A16-BC5B-4859-92D8-DD73DCD1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3860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B0C4E6-8346-4A41-A2D2-DFA882C9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05150"/>
            <a:ext cx="17716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08A7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45AD1C-34FF-40A0-B08E-006DA27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5755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Actions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2361CA-092A-4B05-AB46-0A298536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957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9412"/>
            </a:srgbClr>
          </a:solidFill>
          <a:ln xmlns:a="http://schemas.openxmlformats.org/drawingml/2006/main" w="9525">
            <a:solidFill>
              <a:srgbClr val="F08A77">
                <a:alpha val="4000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CCB6FC-491B-4B21-9EE9-48087157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719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voice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5FE684C-E48C-4458-8974-3F24C28E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1529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9412"/>
            </a:srgbClr>
          </a:solidFill>
          <a:ln xmlns:a="http://schemas.openxmlformats.org/drawingml/2006/main" w="9525">
            <a:solidFill>
              <a:srgbClr val="F08A77">
                <a:alpha val="4000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13CEB4-4B22-4BF6-A42C-4DCCE4C8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291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large card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13E228C-8944-48FA-A794-FDA24AB5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101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9412"/>
            </a:srgbClr>
          </a:solidFill>
          <a:ln xmlns:a="http://schemas.openxmlformats.org/drawingml/2006/main" w="9525">
            <a:solidFill>
              <a:srgbClr val="F08A77">
                <a:alpha val="4000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3001B60-3CED-492F-8E1C-E6E08E57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6863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family memo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E0411D-81A8-44B9-820F-2DAB7B0C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3860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3BB7AA-8A36-4F20-A207-8CB3B5AD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05150"/>
            <a:ext cx="17716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F7ED05-A3FF-4664-AFFE-CAE7D492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25755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Safety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DBF1014-6D76-4826-B4B0-6384189F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957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ED0680-E9C7-4D1F-B797-64859E55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7719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no diagnosis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726BAAA-D6E3-43E3-961A-A6E570BA0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1529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BAE20BD-EB8C-4EF9-B947-AA18BC6E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291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handoff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365D0BA-BC72-445E-9B6B-0AEF651E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6101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>
                <a:alpha val="4000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67474F2-E2B5-4472-B2E4-544BA3D5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686300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privacy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31F12BA-10D8-43BC-8D44-D83E12EF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75310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>
              <a:alpha val="9412"/>
            </a:srgbClr>
          </a:solidFill>
          <a:ln xmlns:a="http://schemas.openxmlformats.org/drawingml/2006/main" w="9525">
            <a:solidFill>
              <a:srgbClr val="F2C14E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830157-80C8-4D0A-83AF-21BF0796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674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Privacy choice: semantic event tokens, not raw life streams.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8D2BBC-9C4B-40DE-A20B-8B3A1DD4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573054B-290F-4CD1-B866-08AD936C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0963659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651055-30DF-46E7-96D3-1092A420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9B370D-D109-452F-8B0F-115C8CE7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350CC4-27EC-4AA2-A10E-BA71207B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752818-A8A1-4443-9530-51AC2B80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B5C96-29D9-42B7-B083-6B372F7D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7CD84-7AC1-4FC6-9040-9FA39277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WHY GOOGLE CLOUD + GEMINI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0ADEB-4C19-4ED5-B6C9-28CBF94D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375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Google Cloud is visible in the demo, not only in the stack.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AA343-FADD-4A22-A394-38744FEE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The event has a hard rule: Google Cloud products must be integrated. SilverLink makes that concrete through Gemini and cloud voice.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F49632-66A6-44B0-A37D-EC886440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956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8CA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C72EDC-3843-46B2-B302-82586740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67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Gemini Vision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B705AD-6C04-4473-A1D0-61F08AB0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100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medicine / document understanding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E8DFF-5630-4CCC-8F84-49E23CF9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9146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598378-4F4E-4B2F-B7F9-8AC8E0DB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86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Gemini Reasoning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3BAEA0-7164-4651-AB36-D7D42500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290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Observe, reason, decide loop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F5D010-3FB7-4916-AB00-341B0A54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956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2C1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C30E8-A4CE-4F2D-B4B8-E0D8330B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467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Structured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0824F8-DE0D-48BB-9493-E2034A90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100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cards and handoff memos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6DD74E-0643-4828-9408-0D411E5C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57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08A7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DD4ABC-BD28-4E63-A2B9-18F0A540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292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Cloud TTS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8D5481-E4FF-473A-947D-B34BF66C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3721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Chirp 3 HD Japanese voice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D19ABF-DBFF-4915-9C2C-9FCF30CB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857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8CA7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A0BCA0-F116-48FA-BED2-57B42B06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292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Cloud Run Next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286D80-C2E6-462A-9E65-85846051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3721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review build and Live tokens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D122A8-533A-4899-961C-1D3C8895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00965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7470C2-B045-4FB5-946C-DAEF9583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219200"/>
            <a:ext cx="1200150" cy="1200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33333"/>
            </a:srgbClr>
          </a:solidFill>
          <a:ln xmlns:a="http://schemas.openxmlformats.org/drawingml/2006/main" w="11430">
            <a:solidFill>
              <a:srgbClr val="7CD6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8115D0-C7EE-4900-934C-444DA2D1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8533" y="1435227"/>
            <a:ext cx="432054" cy="4320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FE5">
              <a:alpha val="2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D2336B-FAB7-42AF-B904-DCF31C4F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4114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D09091-28D7-4C02-B965-51EF1510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34075"/>
            <a:ext cx="392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Prize rule satisfied by visible Cloud integration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796B3A-0D0C-4DE4-9B1B-C38C6DEB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4E5709-AF0A-4F0E-B23C-160AC779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0335334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064ED4-E51A-45E3-B4D3-122AD92F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27055-1F05-411C-93D5-63B71180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6C64DB-0DE5-47A0-9B40-189E705C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A8B3D1-858D-44E0-A5CB-8ECD1F1A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BC42F-3DFB-4D4D-8E80-3632C745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30B828-3DBA-42D1-9D64-A296367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2C14E"/>
                </a:solidFill>
                <a:latin typeface="Aptos Mono"/>
                <a:ea typeface="Aptos Mono"/>
                <a:cs typeface="Aptos Mono"/>
              </a:rPr>
              <a:t>SAFETY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1F9D2B-025F-4D03-BCFE-B1D3F480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524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The boundary is part of the product.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435A8-8B4A-4A62-B107-3E16DA2F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723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SilverLink earns trust by refusing to overreach. It notices earlier, speaks gently, and escalates to humans.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08396C-91E7-46FD-81F0-8242A945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2400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08A7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482A48-3735-4535-86E9-721DF36C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8615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No diagnosis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2C23FA-8ED7-4753-BEEC-599E2924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It explains visible text and uncertainty, not medical truth.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487CB6-6BAC-432C-BE7C-787BE297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95650"/>
            <a:ext cx="2400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F2C14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8718DB-BBD6-4C6B-91FD-00169403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48615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No dosage change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BE982D-387D-4617-B1EF-5F5146F9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243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It never tells a person to start, stop, or change medicine.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1B079B-A177-46C6-8714-F029BAD2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95650"/>
            <a:ext cx="2400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7CD6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6240C0-30B7-47F6-B8BF-97C8B442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48615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Human escalation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34967-F0EB-41EC-8C9A-41F61A51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243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Family, pharmacist, doctor, or emergency path stays explicit.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3BCADC-5758-4588-BCC4-1C1AEE3F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95650"/>
            <a:ext cx="2400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0478">
            <a:solidFill>
              <a:srgbClr val="8CA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6EC07C-BAA6-45B9-B2F9-4E50D50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48615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Privacy memory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9966C9-E2DA-40AC-B7F7-EDE8877D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243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Remember lightweight context, not unnecessary raw audio or video.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E297FE-42ED-4DAA-A63D-F091C180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14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7">
              <a:alpha val="9412"/>
            </a:srgbClr>
          </a:solidFill>
          <a:ln xmlns:a="http://schemas.openxmlformats.org/drawingml/2006/main" w="9525">
            <a:solidFill>
              <a:srgbClr val="F08A7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FE577-66B8-4C84-801B-36856849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467350"/>
            <a:ext cx="800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Triage: Green | Yellow family | Orange pharmacist | Red doctor / emergency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D5F53B-1F32-4111-AA82-46934CAB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B5F736-261E-4B5A-A22E-96FF1D32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1660482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6DF360-7083-4092-821C-368B5E60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BA0ED8-616B-4132-8810-3CECD336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D0A40A-9E4B-4967-ADD9-B72FB108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ABF211-0753-46C2-9148-DCBFDDC3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E9082-34DA-40CD-AE71-5F255D28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CF17E-9331-483F-9DCE-DF44A204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GO TO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9CBD4-A9C0-4747-B3CC-B9C74047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572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Japan first. Global next.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91D7B-D408-4DF7-A044-465A8F2F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Japan gives the sharpest first wedge: aging society, older adults living alone, respectful language, family and pharmacist connection, and low interruption.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D7FAC5-1D52-4C9E-8312-91CEEFCB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43434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1430">
            <a:solidFill>
              <a:srgbClr val="7CD6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ED4689-9A67-4CCC-B68F-A4E8DD7B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81400"/>
            <a:ext cx="3771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Japan version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BBCDDC-CCC8-4F97-B90E-949FD747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91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B6BB83-F603-47EE-B5CD-DB2FBA7E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1480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独居高齢者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4BDBAD-43D0-427A-9E21-02FA29FF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54B338-6A34-4F74-971C-889393CA1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148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敬語 and calm voice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0B7BE7-C701-4629-BE9F-DB25BD71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991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1E43F1-28C3-499F-8CC8-B6BC3A97F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1490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family / pharmacist link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E6A3C0-F128-4CDC-BCD3-C1BAC66E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91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2562C-BD56-4658-A531-CEE21795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149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low-interruption trust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FDDBEE-0A9B-4F15-BFA1-6DF2C8A2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33750"/>
            <a:ext cx="43434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431"/>
          </a:solidFill>
          <a:ln xmlns:a="http://schemas.openxmlformats.org/drawingml/2006/main" w="11430">
            <a:solidFill>
              <a:srgbClr val="F2C14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BFE034-B75D-434F-8719-FE4A6114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81400"/>
            <a:ext cx="3771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Global version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B9FB93-8AEB-4E28-A91A-DD9CC6AF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191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E0F1B0-56F5-42F4-895A-EBBF1B96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11480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remote family care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C85C08-7DE5-432E-B2CB-0D9EA364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91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6C43A-0ED0-4091-987F-E1D30424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148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chronic condition support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DE8A83-0B6E-45DC-BC96-196E9C2B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991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4EF0BD-3CAD-4A78-B3DE-829CCE07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1490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care coordination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C437CF-D106-408D-8A3F-E88A1B3A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391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1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2C8A28-C41E-4E10-A8E1-C1263E46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3149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ambient relationship layer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8BE224-12D0-4F4B-AF3A-690FC562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67400"/>
            <a:ext cx="3733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795B12-5E1D-4E73-80FE-03A565E8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15025"/>
            <a:ext cx="3543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From 見守り to ambient family intelligence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33AE71-1241-49E4-9A24-AFCA27FE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9E02D9-AC84-43D9-8B97-05D65234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3689426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61E129-CC80-4529-A214-C09EE50C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59688-68A4-40B6-A3D2-6E3A5E8D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38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AB39EE-6875-498A-83C9-418FA681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6248400"/>
            <a:ext cx="4324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B09831-8E04-4727-B0D0-D1AB8BD9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23133-98CC-482E-8614-4D1AFB54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93D69D-3CCB-4DF4-AC78-D43A7F89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CLOSING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BEA1CE-D1C2-49FA-B3DE-BC39C27D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7810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4EFE5"/>
                </a:solidFill>
                <a:latin typeface="Aptos Display"/>
                <a:ea typeface="Aptos Display"/>
                <a:cs typeface="Aptos Display"/>
              </a:rPr>
              <a:t>Technology should not replace relationships.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70E76-D524-4F53-8570-4FE448F2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F4EFE5"/>
                </a:solidFill>
                <a:latin typeface="Aptos"/>
                <a:ea typeface="Aptos"/>
                <a:cs typeface="Aptos"/>
              </a:rPr>
              <a:t>It should quietly protect them.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2FD812-2FCA-45A2-B82B-54585292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6896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EB8C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AEB8C8"/>
                </a:solidFill>
                <a:latin typeface="Aptos"/>
                <a:ea typeface="Aptos"/>
                <a:cs typeface="Aptos"/>
              </a:rPr>
              <a:t>SilverLink quietly senses small daily changes through Gemini's multimodal capabilities, remembers recent context, responds with respectful voice interaction, and reconnects older adults with family or professionals before silence becomes risk.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5ADC90-6F20-4219-85A2-18370A0C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9334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28AECC-F054-43BA-87B7-923FC281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143000"/>
            <a:ext cx="2247900" cy="2247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D6C4">
              <a:alpha val="33333"/>
            </a:srgbClr>
          </a:solidFill>
          <a:ln xmlns:a="http://schemas.openxmlformats.org/drawingml/2006/main" w="11430">
            <a:solidFill>
              <a:srgbClr val="7CD6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5DDDD0-1F12-4DEB-89C7-A585EB40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1547622"/>
            <a:ext cx="809244" cy="8092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FE5">
              <a:alpha val="2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5EED4C-FA0F-4307-A01B-459E8A7D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71950"/>
            <a:ext cx="39624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9412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B7EEBA-1DE9-4CD1-AFB2-FDCF3E8B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00550"/>
            <a:ext cx="3352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4EFE5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4EFE5"/>
                </a:solidFill>
                <a:latin typeface="Aptos"/>
                <a:ea typeface="Aptos"/>
                <a:cs typeface="Aptos"/>
              </a:rPr>
              <a:t>She never learned the app.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60FCD8-DBA0-42D1-833D-6EF463F3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762500"/>
            <a:ext cx="3352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D6C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7CD6C4"/>
                </a:solidFill>
                <a:latin typeface="Aptos"/>
                <a:ea typeface="Aptos"/>
                <a:cs typeface="Aptos"/>
              </a:rPr>
              <a:t>The app learned how to care.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4E6F68-801B-42D7-BA67-320B255F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292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A7FF">
              <a:alpha val="13333"/>
            </a:srgbClr>
          </a:solidFill>
          <a:ln xmlns:a="http://schemas.openxmlformats.org/drawingml/2006/main" w="9525">
            <a:solidFill>
              <a:srgbClr val="8CA7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3A3C2E-E2C9-41EE-B926-7725D803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76875"/>
            <a:ext cx="2171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A7FF"/>
                </a:solidFill>
                <a:latin typeface="Aptos Mono"/>
                <a:ea typeface="Aptos Mono"/>
                <a:cs typeface="Aptos Mono"/>
              </a:rPr>
              <a:t>AI should adapt to people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B41C8D-8D6B-43D4-BB93-B26C80A5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292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D6C4">
              <a:alpha val="13333"/>
            </a:srgbClr>
          </a:solidFill>
          <a:ln xmlns:a="http://schemas.openxmlformats.org/drawingml/2006/main" w="9525">
            <a:solidFill>
              <a:srgbClr val="7CD6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99B25B-46AC-4F4D-85D7-B5E45DE1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76875"/>
            <a:ext cx="2209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7CD6C4"/>
                </a:solidFill>
                <a:latin typeface="Aptos Mono"/>
                <a:ea typeface="Aptos Mono"/>
                <a:cs typeface="Aptos Mono"/>
              </a:rPr>
              <a:t>not the other way around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EBED32-F760-4881-98A4-8A216975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697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978"/>
                </a:solidFill>
                <a:latin typeface="Aptos"/>
                <a:ea typeface="Aptos"/>
                <a:cs typeface="Aptos"/>
              </a:rPr>
              <a:t>SilverLink Ambient Agent | Gemini Hackathon Tokyo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0C0371-F03D-46A5-A006-46EEBF6A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E6978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047485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2026-05-17T02:51:51.5730000Z</dcterms:created>
  <dcterms:modified xsi:type="dcterms:W3CDTF">2026-05-17T02:51:51.5730000Z</dcterms:modified>
</coreProperties>
</file>